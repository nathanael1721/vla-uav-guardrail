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2" d="100"/>
          <a:sy n="132" d="100"/>
        </p:scale>
        <p:origin x="10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ael Tjahyadi" userId="3d812bafe33aef0e" providerId="LiveId" clId="{29437703-73C4-43CF-9915-CA63B3397B0D}"/>
    <pc:docChg chg="undo custSel modSld">
      <pc:chgData name="Nathanael Tjahyadi" userId="3d812bafe33aef0e" providerId="LiveId" clId="{29437703-73C4-43CF-9915-CA63B3397B0D}" dt="2026-08-05T07:39:46.095" v="120" actId="6549"/>
      <pc:docMkLst>
        <pc:docMk/>
      </pc:docMkLst>
      <pc:sldChg chg="delSp modSp mod">
        <pc:chgData name="Nathanael Tjahyadi" userId="3d812bafe33aef0e" providerId="LiveId" clId="{29437703-73C4-43CF-9915-CA63B3397B0D}" dt="2026-08-05T07:28:52.466" v="117" actId="1076"/>
        <pc:sldMkLst>
          <pc:docMk/>
          <pc:sldMk cId="0" sldId="256"/>
        </pc:sldMkLst>
        <pc:spChg chg="mod">
          <ac:chgData name="Nathanael Tjahyadi" userId="3d812bafe33aef0e" providerId="LiveId" clId="{29437703-73C4-43CF-9915-CA63B3397B0D}" dt="2026-08-05T07:28:52.466" v="117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Nathanael Tjahyadi" userId="3d812bafe33aef0e" providerId="LiveId" clId="{29437703-73C4-43CF-9915-CA63B3397B0D}" dt="2026-08-05T06:29:31.338" v="5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Nathanael Tjahyadi" userId="3d812bafe33aef0e" providerId="LiveId" clId="{29437703-73C4-43CF-9915-CA63B3397B0D}" dt="2026-08-05T06:29:28.159" v="2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Nathanael Tjahyadi" userId="3d812bafe33aef0e" providerId="LiveId" clId="{29437703-73C4-43CF-9915-CA63B3397B0D}" dt="2026-08-05T06:29:49.462" v="16" actId="20577"/>
        <pc:sldMkLst>
          <pc:docMk/>
          <pc:sldMk cId="0" sldId="257"/>
        </pc:sldMkLst>
        <pc:spChg chg="mod">
          <ac:chgData name="Nathanael Tjahyadi" userId="3d812bafe33aef0e" providerId="LiveId" clId="{29437703-73C4-43CF-9915-CA63B3397B0D}" dt="2026-08-05T06:29:49.462" v="16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29:44.248" v="6" actId="6549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athanael Tjahyadi" userId="3d812bafe33aef0e" providerId="LiveId" clId="{29437703-73C4-43CF-9915-CA63B3397B0D}" dt="2026-08-05T07:39:46.095" v="120" actId="6549"/>
        <pc:sldMkLst>
          <pc:docMk/>
          <pc:sldMk cId="0" sldId="258"/>
        </pc:sldMkLst>
        <pc:spChg chg="mod">
          <ac:chgData name="Nathanael Tjahyadi" userId="3d812bafe33aef0e" providerId="LiveId" clId="{29437703-73C4-43CF-9915-CA63B3397B0D}" dt="2026-08-05T07:39:46.095" v="120" actId="6549"/>
          <ac:spMkLst>
            <pc:docMk/>
            <pc:sldMk cId="0" sldId="258"/>
            <ac:spMk id="3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5.273" v="20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09.611" v="1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6:30:12.971" v="19" actId="1076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Nathanael Tjahyadi" userId="3d812bafe33aef0e" providerId="LiveId" clId="{29437703-73C4-43CF-9915-CA63B3397B0D}" dt="2026-08-05T06:30:36.132" v="36" actId="20577"/>
        <pc:sldMkLst>
          <pc:docMk/>
          <pc:sldMk cId="0" sldId="259"/>
        </pc:sldMkLst>
        <pc:spChg chg="mod">
          <ac:chgData name="Nathanael Tjahyadi" userId="3d812bafe33aef0e" providerId="LiveId" clId="{29437703-73C4-43CF-9915-CA63B3397B0D}" dt="2026-08-05T06:30:36.132" v="36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Nathanael Tjahyadi" userId="3d812bafe33aef0e" providerId="LiveId" clId="{29437703-73C4-43CF-9915-CA63B3397B0D}" dt="2026-08-05T07:38:42.420" v="119" actId="20577"/>
        <pc:sldMkLst>
          <pc:docMk/>
          <pc:sldMk cId="0" sldId="260"/>
        </pc:sldMkLst>
        <pc:spChg chg="mod">
          <ac:chgData name="Nathanael Tjahyadi" userId="3d812bafe33aef0e" providerId="LiveId" clId="{29437703-73C4-43CF-9915-CA63B3397B0D}" dt="2026-08-05T07:38:42.420" v="119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Nathanael Tjahyadi" userId="3d812bafe33aef0e" providerId="LiveId" clId="{29437703-73C4-43CF-9915-CA63B3397B0D}" dt="2026-08-05T07:26:40.979" v="61" actId="20577"/>
        <pc:sldMkLst>
          <pc:docMk/>
          <pc:sldMk cId="0" sldId="262"/>
        </pc:sldMkLst>
        <pc:spChg chg="mod">
          <ac:chgData name="Nathanael Tjahyadi" userId="3d812bafe33aef0e" providerId="LiveId" clId="{29437703-73C4-43CF-9915-CA63B3397B0D}" dt="2026-08-05T07:26:40.979" v="61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Nathanael Tjahyadi" userId="3d812bafe33aef0e" providerId="LiveId" clId="{29437703-73C4-43CF-9915-CA63B3397B0D}" dt="2026-08-05T07:27:08.045" v="115" actId="20577"/>
        <pc:sldMkLst>
          <pc:docMk/>
          <pc:sldMk cId="0" sldId="263"/>
        </pc:sldMkLst>
        <pc:spChg chg="mod">
          <ac:chgData name="Nathanael Tjahyadi" userId="3d812bafe33aef0e" providerId="LiveId" clId="{29437703-73C4-43CF-9915-CA63B3397B0D}" dt="2026-08-05T07:27:08.045" v="115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Nathanael Tjahyadi" userId="3d812bafe33aef0e" providerId="LiveId" clId="{29437703-73C4-43CF-9915-CA63B3397B0D}" dt="2026-08-05T07:27:16.683" v="116" actId="1076"/>
        <pc:sldMkLst>
          <pc:docMk/>
          <pc:sldMk cId="0" sldId="264"/>
        </pc:sldMkLst>
        <pc:spChg chg="mod">
          <ac:chgData name="Nathanael Tjahyadi" userId="3d812bafe33aef0e" providerId="LiveId" clId="{29437703-73C4-43CF-9915-CA63B3397B0D}" dt="2026-08-05T07:27:16.683" v="116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Nathanael Tjahyadi" userId="3d812bafe33aef0e" providerId="LiveId" clId="{29437703-73C4-43CF-9915-CA63B3397B0D}" dt="2026-08-05T07:27:16.683" v="116" actId="1076"/>
          <ac:spMkLst>
            <pc:docMk/>
            <pc:sldMk cId="0" sldId="264"/>
            <ac:spMk id="3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4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AF6F8"/>
                </a:solidFill>
                <a:latin typeface="Poppins"/>
              </a:rPr>
              <a:t>NTUT AIOT LAB  ·  PROGRESS REPORT  · 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02245"/>
            <a:ext cx="8138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Poppins"/>
              </a:rPr>
              <a:t>Following a Named Object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Poppins"/>
              </a:rPr>
              <a:t>with Vision and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49039"/>
            <a:ext cx="4206240" cy="18288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000" b="1" dirty="0">
                <a:solidFill>
                  <a:srgbClr val="249DB2"/>
                </a:solidFill>
                <a:latin typeface="Poppins"/>
              </a:rPr>
              <a:t>Comparison</a:t>
            </a:r>
            <a:endParaRPr sz="1000" b="1" dirty="0">
              <a:solidFill>
                <a:srgbClr val="249DB2"/>
              </a:solidFill>
              <a:latin typeface="Poppi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dirty="0">
                <a:solidFill>
                  <a:srgbClr val="1A1A1A"/>
                </a:solidFill>
                <a:latin typeface="Poppins"/>
              </a:rPr>
              <a:t>Last report's 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Same guardrail, same simulator, same policy files — the pilot changed.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8138160" cy="2743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46504"/>
            <a:ext cx="3419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174650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Before  (AerialVLA 7B)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4650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Now  (this report)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020824"/>
            <a:ext cx="3419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Follow a named moving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02082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no — never 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2082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95144"/>
            <a:ext cx="3419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Language actually steers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29514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9514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14600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569464"/>
            <a:ext cx="3419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Decision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56946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0.11 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946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4–5 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43784"/>
            <a:ext cx="3419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Altitude band held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84378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escaped 31.6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43784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63239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118103"/>
            <a:ext cx="34198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No-fly zone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118103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0.0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118103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oppins"/>
              </a:rPr>
              <a:t>Source: docs/FINDING-what-drives-aerialvla.md, docs/RESULT-vlm-follow.md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THE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dirty="0" err="1">
                <a:solidFill>
                  <a:srgbClr val="1A1A1A"/>
                </a:solidFill>
                <a:latin typeface="Poppins"/>
              </a:rPr>
              <a:t>AerialVLA's</a:t>
            </a:r>
            <a:r>
              <a:rPr sz="2500" b="1" dirty="0">
                <a:solidFill>
                  <a:srgbClr val="1A1A1A"/>
                </a:solidFill>
                <a:latin typeface="Poppins"/>
              </a:rPr>
              <a:t>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33324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108 controlled forward passes per adapter, on real captured frames.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88237"/>
            <a:ext cx="2606040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007109"/>
            <a:ext cx="23865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49DB2"/>
                </a:solidFill>
                <a:latin typeface="Poppins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36877"/>
            <a:ext cx="23865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flights: identical 'stop and land'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888237"/>
            <a:ext cx="2606040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2007109"/>
            <a:ext cx="23865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49DB2"/>
                </a:solidFill>
                <a:latin typeface="Poppins"/>
              </a:rPr>
              <a:t>0.05 vs 0.08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36877"/>
            <a:ext cx="23865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yaw for correct vs WRONG colour 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888237"/>
            <a:ext cx="2596896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2007109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49DB2"/>
                </a:solidFill>
                <a:latin typeface="Poppins"/>
              </a:rPr>
              <a:t>11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436877"/>
            <a:ext cx="2377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frames answered LAND with no compass hint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31237"/>
            <a:ext cx="8138160" cy="14173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186685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1A"/>
                </a:solidFill>
                <a:latin typeface="Poppins"/>
              </a:rPr>
              <a:t>The prompt has two slots. Only one of them steers.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52445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"Fly {direction} and find the target. {object}"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{direction} is a compass phrase computed from ground-truth coordinates — it orders the commanded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yaw monotonically from −0.47 rad/s ("to your left") to +0.16 ("to your right").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{object} is the language. Correct and wrong colour words gave indistinguishable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500" b="1" dirty="0">
                <a:solidFill>
                  <a:srgbClr val="1A1A1A"/>
                </a:solidFill>
                <a:latin typeface="Poppins"/>
              </a:rPr>
              <a:t>Change the model</a:t>
            </a:r>
            <a:endParaRPr sz="2500" b="1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Still vision → language → action. Now with a model whose words reach the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542032" cy="16002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542032" cy="54864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911095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OWL-ViT  153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58568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Open-vocabulary detector.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Text in, boxes out.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34–56 ms per frame.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691640"/>
            <a:ext cx="2542032" cy="16002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00984" y="1691640"/>
            <a:ext cx="2542032" cy="54864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65576" y="1911095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Servo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258568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Box offset → yaw.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Box width → speed.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Altitude error → climb.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1691640"/>
            <a:ext cx="2542032" cy="16002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9048" y="1691640"/>
            <a:ext cx="2542032" cy="54864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911095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Guardrail — unchanged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58568"/>
            <a:ext cx="22128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Same Shield, same policies.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No modification needed to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accept a new kind of pilot.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Nothing in the steering path knows where the car is. Its position is used only to spawn it,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and offline, to score the flight.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dirty="0">
                <a:solidFill>
                  <a:srgbClr val="1A1A1A"/>
                </a:solidFill>
                <a:latin typeface="Poppins"/>
              </a:rPr>
              <a:t>Two flights.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.\run_follow_vlm.ps1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977639" cy="173736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1A"/>
                </a:solidFill>
                <a:latin typeface="Poppins"/>
              </a:rPr>
              <a:t>1 · Tracking, with stops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The car drives, stops for 6 s, drives,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stops, drives again. The drone has to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stop too — that is the proof.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3977639" cy="173736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8745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A1A"/>
                </a:solidFill>
                <a:latin typeface="Poppins"/>
              </a:rPr>
              <a:t>2 · The same, with a no-fly 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40280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A fence spans the corridor. The car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drives through it. The drone brakes,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holds at 3 m, and does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Recorded from two cameras: the drone's own view with the detection box and live telemetry,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and a third-person chase view, stitched side by 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dirty="0">
                <a:solidFill>
                  <a:srgbClr val="1A1A1A"/>
                </a:solidFill>
                <a:latin typeface="Poppins"/>
              </a:rPr>
              <a:t>It follows, and the rules 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Car at 2.0 m/s. Separation measured against its true position, offline.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8138160" cy="2743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46504"/>
            <a:ext cx="2231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46504"/>
            <a:ext cx="10424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Detector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4650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Mean sep.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46504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Within 30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4650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Shield overrides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4650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NFZ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65960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020824"/>
            <a:ext cx="2231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Follow: car stops twice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020824"/>
            <a:ext cx="10424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02082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15.6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20824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208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02082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295144"/>
            <a:ext cx="2231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Follow + no-fly zone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295144"/>
            <a:ext cx="10424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67.8%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29514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45.2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295144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28.6%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9514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9DB2"/>
                </a:solidFill>
                <a:latin typeface="Poppin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29514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514600"/>
            <a:ext cx="8138160" cy="27432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2569464"/>
            <a:ext cx="2231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Control: wrong colour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569464"/>
            <a:ext cx="10424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99.0%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5694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68.5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2569464"/>
            <a:ext cx="996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56946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5694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0.0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2926080"/>
            <a:ext cx="8138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Row 1: the drone stops when the car stops — 1.17 m/s while the car moves against 0.36 m/s while it is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parked, correlation +0.55. A follower has to stop, so this is the evidence that it tracks the car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rather than just flying down the same street.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Row 2 is a deliberate failure: the fence has no way round, so the car escapes and tracking collapses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to 28.6% — with zero Shield overrides, because the controller now stops itself, and the zone still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never entered.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500" b="1" dirty="0">
                <a:solidFill>
                  <a:srgbClr val="1A1A1A"/>
                </a:solidFill>
                <a:latin typeface="Poppins"/>
              </a:rPr>
              <a:t>Use language as control</a:t>
            </a:r>
            <a:endParaRPr sz="2500" b="1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Identical scene, identical orange car, identical settings.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977639" cy="16916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92808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8A5A"/>
                </a:solidFill>
                <a:latin typeface="Poppins"/>
              </a:rPr>
              <a:t>"an orange car"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B2B"/>
                </a:solidFill>
                <a:latin typeface="Poppins"/>
              </a:rPr>
              <a:t>100% of the flight within 30 m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B2B"/>
                </a:solidFill>
                <a:latin typeface="Poppins"/>
              </a:rPr>
              <a:t>mean separation 15.6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3977639" cy="16916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892808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433F"/>
                </a:solidFill>
                <a:latin typeface="Poppins"/>
              </a:rPr>
              <a:t>"a blue car"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31720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B2B"/>
                </a:solidFill>
                <a:latin typeface="Poppins"/>
              </a:rPr>
              <a:t>20.7% within 30 m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B2B"/>
                </a:solidFill>
                <a:latin typeface="Poppins"/>
              </a:rPr>
              <a:t>mean separation 68.5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This is the control that matters. Without it, "the drone ended up near the car" could just be drift.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The colour word is verified against the pixels in the box — the detector grounds the noun,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B2B2B"/>
                </a:solidFill>
                <a:latin typeface="Poppins"/>
              </a:rPr>
              <a:t>an HSV check grounds the adjective.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365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500" b="1" dirty="0">
                <a:solidFill>
                  <a:srgbClr val="1A1A1A"/>
                </a:solidFill>
                <a:latin typeface="Poppins"/>
              </a:rPr>
              <a:t>Guardrail safety</a:t>
            </a:r>
            <a:endParaRPr sz="2500" b="1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The no-fly-zone flight, before and after the controller learned about fences.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06040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810512"/>
            <a:ext cx="23865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8A5A"/>
                </a:solidFill>
                <a:latin typeface="Poppins"/>
              </a:rPr>
              <a:t>659 →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80"/>
            <a:ext cx="23865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Shield overrides, after the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691640"/>
            <a:ext cx="2606040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810512"/>
            <a:ext cx="238658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49DB2"/>
                </a:solidFill>
                <a:latin typeface="Poppins"/>
              </a:rPr>
              <a:t>3.00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3865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closest approach; stand-off is 3 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691640"/>
            <a:ext cx="2596896" cy="932688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1810512"/>
            <a:ext cx="23774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8A5A"/>
                </a:solidFill>
                <a:latin typeface="Poppins"/>
              </a:rPr>
              <a:t>0.0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240280"/>
            <a:ext cx="2377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Poppins"/>
              </a:rPr>
              <a:t>inside the zone, every flight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34640"/>
            <a:ext cx="8138160" cy="137160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99008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Two layers arguing ten times a second looks exactly as unsafe as it 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The servo asked to close on the car every tick and the Shield refused every tick. Neither changed its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mind, so the aircraft chattered against the boundary — 659 corrections in 795 ticks. The controller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now knows the geofence itself (mission data, not target data), brakes from 12 m and holds at 3 m,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while yaw keeps tracking so the target stays in view. HUD reads NFZ AHEAD — HOLDING.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Q: HOW DO THEY CONNECT?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The pilot and the guardrail share one struct.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That contract is why the pilot could be replaced without touching the safety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931920" cy="11887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1965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guardrail/models.py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93976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class Action4D: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    vx, vy      # m/s, North / East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    vz_up       # m/s, up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    yaw_rate    # +clockwise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91640"/>
            <a:ext cx="3931920" cy="118872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81965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every tick, in the flight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093976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raw    = Action4D(...)     # pilot asks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smooth = limiter(raw)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d      = shield.filter(state, smooth)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drone.move_by_velocity(d.emitted)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08376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Poppins"/>
              </a:rPr>
              <a:t>`raw` never reaches the simulator. Only `d.emitted` flies — the guardrail is the last authority.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8138160" cy="292608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392424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392424"/>
            <a:ext cx="19568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Pilot asked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392424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What actually flew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3392424"/>
            <a:ext cx="18196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Poppins"/>
              </a:rPr>
              <a:t>Rule at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30168"/>
            <a:ext cx="8138160" cy="29260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685032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Guardrail agrees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685032"/>
            <a:ext cx="19568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vx +0.41  vy −0.62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685032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vx +0.40  vy −0.40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3685032"/>
            <a:ext cx="18196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39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Controller brakes itself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977639"/>
            <a:ext cx="19568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vy +0.74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3977639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vy +0.74 (unchanged)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3977639"/>
            <a:ext cx="18196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B8A5A"/>
                </a:solidFill>
                <a:latin typeface="Poppins"/>
              </a:rPr>
              <a:t>none — fence 6.0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389120"/>
            <a:ext cx="8138160" cy="29260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270248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B2B2B"/>
                </a:solidFill>
                <a:latin typeface="Poppins"/>
              </a:rPr>
              <a:t>Guardrail overrides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270248"/>
            <a:ext cx="19568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vx −0.47 toward a wall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4270248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9DB2"/>
                </a:solidFill>
                <a:latin typeface="Poppins"/>
              </a:rPr>
              <a:t>vx +0.50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4270248"/>
            <a:ext cx="18196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0433F"/>
                </a:solidFill>
                <a:latin typeface="Poppins"/>
              </a:rPr>
              <a:t>clearance 4.98 &lt; 5.0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17136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dirty="0">
                <a:solidFill>
                  <a:srgbClr val="6B7280"/>
                </a:solidFill>
                <a:latin typeface="Poppins"/>
              </a:rPr>
              <a:t>Real ticks from demo/out/*/</a:t>
            </a:r>
            <a:r>
              <a:rPr sz="950" b="0" dirty="0" err="1">
                <a:solidFill>
                  <a:srgbClr val="6B7280"/>
                </a:solidFill>
                <a:latin typeface="Poppins"/>
              </a:rPr>
              <a:t>flight_log.jsonl</a:t>
            </a:r>
            <a:r>
              <a:rPr sz="950" b="0" dirty="0">
                <a:solidFill>
                  <a:srgbClr val="6B7280"/>
                </a:solidFill>
                <a:latin typeface="Poppins"/>
              </a:rPr>
              <a:t>. </a:t>
            </a:r>
            <a:r>
              <a:rPr sz="950" b="0" dirty="0" err="1">
                <a:solidFill>
                  <a:srgbClr val="6B7280"/>
                </a:solidFill>
                <a:latin typeface="Poppins"/>
              </a:rPr>
              <a:t>yaw_rate</a:t>
            </a:r>
            <a:r>
              <a:rPr sz="950" b="0" dirty="0">
                <a:solidFill>
                  <a:srgbClr val="6B7280"/>
                </a:solidFill>
                <a:latin typeface="Poppins"/>
              </a:rPr>
              <a:t> is identical in all three — the Shield never touches heading.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Q: HOW DOES IT DETECT AND TURN?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From a word to a yaw command, in four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54864" cy="7315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1 ·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OWL-ViT takes the phrase and returns scored boxes. 34–56 ms, in its own thread.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54864" cy="7315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1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2 · Verify the colour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14015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HSV check inside each box. The detector grounds the noun, this grounds the adjective.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Winner is score × (0.25 + 0.75 × colour) — not score alone, which once locked onto a building.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79"/>
            <a:ext cx="54864" cy="7315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3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3 · 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7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off = (cx − W/2) / (W/2)    bearing = 45° × off    yaw_rate = gain × bearing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The pixel offset becomes a REAL angle, because it is scaled by the camera's half-FOV.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30752"/>
            <a:ext cx="54864" cy="73152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39896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4 · Close or back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Box width stands in for distance: too small → forward, too large → reverse.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Scaled by cos(bearing), so it never charges while the target is off to one side.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72000"/>
            <a:ext cx="8138160" cy="54864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672584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When detection drops: COAST on the last motion (&lt; 2 s), then SEARCH toward the side it was last seen,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B2B"/>
                </a:solidFill>
                <a:latin typeface="Poppins"/>
              </a:rPr>
              <a:t>then SCAN slowly. It never freezes, and never-yet-acquired counts as SEARCH rather than give-up.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What this does not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280"/>
                </a:solidFill>
                <a:latin typeface="Poppins"/>
              </a:rPr>
              <a:t>Stated here so nobody discovers it during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8138160" cy="86868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The noun does most of the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0312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"a car" alone chases city clutter and ends 51 m away. The colour check helps, but this grounds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"car", not "that particular one".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79192"/>
            <a:ext cx="8138160" cy="86868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798064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It cannot say the object is absent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90672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With no car in the scene the raw detector still fires on ~75% of frames. Only the colour check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suppresses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66744"/>
            <a:ext cx="8138160" cy="868680"/>
          </a:xfrm>
          <a:prstGeom prst="round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785615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Poppins"/>
              </a:rPr>
              <a:t>The target is made easy, and it is a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078224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The car drives straight and parks, because turns swing it through the blind spot. The obstacle map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oppins"/>
              </a:rPr>
              <a:t>holds buildings only — not trees or lamp posts. One flight per condition, and no hardware yet.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9DB2"/>
                </a:solidFill>
                <a:latin typeface="Poppin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1A1A1A"/>
                </a:solidFill>
                <a:latin typeface="Poppins"/>
              </a:rPr>
              <a:t>Where this goes.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4736592"/>
            <a:ext cx="457200" cy="292608"/>
          </a:xfrm>
          <a:prstGeom prst="round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0" y="47640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54864" cy="77724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3502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Confidence, not just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19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A track-confirmation stage, so the system can report that the target is gone instead of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locking onto whatever is nearest.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76856"/>
            <a:ext cx="54864" cy="77724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9514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A fence with a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Built and unit-tested — it picks the open side and refuses when there is none — but not yet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demonstrated in flight: the aircraft met street furniture the obstacle map does not contain.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36976"/>
            <a:ext cx="54864" cy="77724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5526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1A"/>
                </a:solidFill>
                <a:latin typeface="Poppins"/>
              </a:rPr>
              <a:t>Toward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The guardrail already runs on any action source. The open questions are latency and camera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Poppins"/>
              </a:rPr>
              <a:t>geometry on a real airframe.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4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AF6F8"/>
                </a:solidFill>
                <a:latin typeface="Poppins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FFFFFF"/>
                </a:solidFill>
                <a:latin typeface="Poppins"/>
              </a:rPr>
              <a:t>The pilot changed completely.</a:t>
            </a:r>
          </a:p>
          <a:p>
            <a:pPr algn="l">
              <a:lnSpc>
                <a:spcPct val="95000"/>
              </a:lnSpc>
            </a:pPr>
            <a:r>
              <a:rPr sz="3000" b="1">
                <a:solidFill>
                  <a:srgbClr val="FFFFFF"/>
                </a:solidFill>
                <a:latin typeface="Poppins"/>
              </a:rPr>
              <a:t>The safety layer did not have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795527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6F8"/>
                </a:solidFill>
                <a:latin typeface="Poppins"/>
              </a:rPr>
              <a:t>A 7B action model was swapped for a 153 M detector and a servo loop — a different kind of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6F8"/>
                </a:solidFill>
                <a:latin typeface="Poppins"/>
              </a:rPr>
              <a:t>controller entirely — and the Shield accepted it without a single change to its code or its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6F8"/>
                </a:solidFill>
                <a:latin typeface="Poppins"/>
              </a:rPr>
              <a:t>policy files. Across every flight in this report: no-fly zone 0.0 s, altitude escape 0.0 s.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6F8"/>
                </a:solidFill>
                <a:latin typeface="Poppins"/>
              </a:rPr>
              <a:t>That portability is the architectural claim, and it survived replacing the brain.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206240"/>
            <a:ext cx="4206240" cy="18288"/>
          </a:xfrm>
          <a:prstGeom prst="rect">
            <a:avLst/>
          </a:prstGeom>
          <a:solidFill>
            <a:srgbClr val="249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6F8"/>
                </a:solidFill>
                <a:latin typeface="Poppins"/>
              </a:rPr>
              <a:t>Reproduce: .\run_follow_vlm.ps1   ·   TUTORIAL-DEMO-FOLLOW.md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1620</Words>
  <Application>Microsoft Office PowerPoint</Application>
  <PresentationFormat>On-screen Show (16:9)</PresentationFormat>
  <Paragraphs>215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Nathanael Tjahyadi</cp:lastModifiedBy>
  <cp:revision>1</cp:revision>
  <dcterms:created xsi:type="dcterms:W3CDTF">2013-01-27T09:14:16Z</dcterms:created>
  <dcterms:modified xsi:type="dcterms:W3CDTF">2026-08-05T07:39:54Z</dcterms:modified>
  <cp:category/>
</cp:coreProperties>
</file>